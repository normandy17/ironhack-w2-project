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1800" u="none">
                <a:solidFill>
                  <a:srgbClr val="595959"/>
                </a:solidFill>
                <a:latin typeface="Calibri"/>
              </a:defRPr>
            </a:pPr>
            <a:r>
              <a:rPr b="0" i="0" strike="noStrike" sz="1800" u="none">
                <a:solidFill>
                  <a:srgbClr val="595959"/>
                </a:solidFill>
                <a:latin typeface="Calibri"/>
              </a:rPr>
              <a:t>Model accuracy</a:t>
            </a:r>
          </a:p>
        </c:rich>
      </c:tx>
      <c:layout>
        <c:manualLayout>
          <c:xMode val="edge"/>
          <c:yMode val="edge"/>
          <c:x val="0.333918"/>
          <c:y val="0"/>
          <c:w val="0.332165"/>
          <c:h val="0.0986058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651663"/>
          <c:y val="0.0986058"/>
          <c:w val="0.929834"/>
          <c:h val="0.7790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LinearRegression</c:v>
                </c:pt>
                <c:pt idx="1">
                  <c:v>Decision Tree</c:v>
                </c:pt>
                <c:pt idx="2">
                  <c:v>RandomForrest</c:v>
                </c:pt>
                <c:pt idx="3">
                  <c:v/>
                </c:pt>
              </c:strCache>
            </c:strRef>
          </c:cat>
          <c:val>
            <c:numRef>
              <c:f>Sheet1!$B$2:$B$5</c:f>
              <c:numCache>
                <c:ptCount val="3"/>
                <c:pt idx="0">
                  <c:v>85.000000</c:v>
                </c:pt>
                <c:pt idx="1">
                  <c:v>87.000000</c:v>
                </c:pt>
                <c:pt idx="2">
                  <c:v>88.000000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1"/>
        <c:minorUnit val="0.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416198"/>
          <c:y val="0.95228"/>
          <c:w val="0.188415"/>
          <c:h val="0.0477196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100" u="non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1800" u="none">
                <a:solidFill>
                  <a:srgbClr val="595959"/>
                </a:solidFill>
                <a:latin typeface="Calibri"/>
              </a:defRPr>
            </a:pPr>
            <a:r>
              <a:rPr b="0" i="0" strike="noStrike" sz="1800" u="none">
                <a:solidFill>
                  <a:srgbClr val="595959"/>
                </a:solidFill>
                <a:latin typeface="Calibri"/>
              </a:rPr>
              <a:t>Model accuracy</a:t>
            </a:r>
          </a:p>
        </c:rich>
      </c:tx>
      <c:layout>
        <c:manualLayout>
          <c:xMode val="edge"/>
          <c:yMode val="edge"/>
          <c:x val="0.211587"/>
          <c:y val="0"/>
          <c:w val="0.576827"/>
          <c:h val="0.098824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141021"/>
          <c:y val="0.098824"/>
          <c:w val="0.853979"/>
          <c:h val="0.707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Training (sales.csv)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Winner model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89.000000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Validation (sales.csv)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Winner model</c:v>
                </c:pt>
              </c:strCache>
            </c:strRef>
          </c:cat>
          <c:val>
            <c:numRef>
              <c:f>Sheet1!$B$3:$B$3</c:f>
              <c:numCache>
                <c:ptCount val="1"/>
                <c:pt idx="0">
                  <c:v>88.000000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R2 prediction (real life sales.csv)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Winner model</c:v>
                </c:pt>
              </c:strCache>
            </c:strRef>
          </c:cat>
          <c:val>
            <c:numRef>
              <c:f>Sheet1!$B$4:$B$4</c:f>
              <c:numCache>
                <c:ptCount val="1"/>
                <c:pt idx="0">
                  <c:v>83.000000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100" u="none">
                <a:solidFill>
                  <a:srgbClr val="595959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110205"/>
          <c:y val="0.881607"/>
          <c:w val="0.839361"/>
          <c:h val="0.118393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100" u="non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Sales Predictions Models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pPr/>
            <a:r>
              <a:t>Charleson, Domien, Dimi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Executive summary</a:t>
            </a:r>
          </a:p>
        </p:txBody>
      </p:sp>
      <p:sp>
        <p:nvSpPr>
          <p:cNvPr id="98" name="Content Placeholder 2"/>
          <p:cNvSpPr txBox="1"/>
          <p:nvPr>
            <p:ph type="body" sz="half" idx="1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/>
          <a:lstStyle/>
          <a:p>
            <a:pPr/>
            <a:r>
              <a:t>R2 Score: 0.88</a:t>
            </a:r>
          </a:p>
          <a:p>
            <a:pPr/>
            <a:r>
              <a:t>RandomForrest</a:t>
            </a:r>
          </a:p>
          <a:p>
            <a:pPr/>
            <a:r>
              <a:t>R</a:t>
            </a:r>
            <a:r>
              <a:rPr baseline="30000"/>
              <a:t>2</a:t>
            </a:r>
            <a:r>
              <a:t> Prediction: 0.83</a:t>
            </a:r>
          </a:p>
          <a:p>
            <a:pPr/>
            <a:r>
              <a:t>Considered XGB boost but did not use.</a:t>
            </a:r>
          </a:p>
        </p:txBody>
      </p:sp>
      <p:graphicFrame>
        <p:nvGraphicFramePr>
          <p:cNvPr id="99" name="Chart 4"/>
          <p:cNvGraphicFramePr/>
          <p:nvPr/>
        </p:nvGraphicFramePr>
        <p:xfrm>
          <a:off x="6474036" y="1904899"/>
          <a:ext cx="4414244" cy="38123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Methods (preprocessing)</a:t>
            </a:r>
          </a:p>
        </p:txBody>
      </p:sp>
      <p:sp>
        <p:nvSpPr>
          <p:cNvPr id="102" name="Content Placeholder 2"/>
          <p:cNvSpPr txBox="1"/>
          <p:nvPr>
            <p:ph type="body" sz="half" idx="1"/>
          </p:nvPr>
        </p:nvSpPr>
        <p:spPr>
          <a:xfrm>
            <a:off x="838200" y="1825625"/>
            <a:ext cx="10515600" cy="2381309"/>
          </a:xfrm>
          <a:prstGeom prst="rect">
            <a:avLst/>
          </a:prstGeom>
        </p:spPr>
        <p:txBody>
          <a:bodyPr/>
          <a:lstStyle/>
          <a:p>
            <a:pPr marL="173735" indent="-173735" defTabSz="694944">
              <a:spcBef>
                <a:spcPts val="700"/>
              </a:spcBef>
              <a:defRPr sz="2128"/>
            </a:pPr>
            <a:r>
              <a:t>How you approached the dataset, cleaning, preprocessing…</a:t>
            </a:r>
          </a:p>
          <a:p>
            <a:pPr marL="0" indent="0" defTabSz="694944">
              <a:spcBef>
                <a:spcPts val="700"/>
              </a:spcBef>
              <a:buSzTx/>
              <a:buFontTx/>
              <a:buNone/>
              <a:defRPr sz="2128"/>
            </a:pPr>
            <a:r>
              <a:t>Identified columns that were irrelevant and dropped them. Created heatmaps to see correlations and dropped more columns that were not influencing the sales.</a:t>
            </a:r>
            <a:endParaRPr>
              <a:solidFill>
                <a:schemeClr val="accent2">
                  <a:satOff val="-18194"/>
                  <a:lumOff val="-11215"/>
                </a:schemeClr>
              </a:solidFill>
            </a:endParaRPr>
          </a:p>
          <a:p>
            <a:pPr marL="0" indent="0" defTabSz="694944">
              <a:spcBef>
                <a:spcPts val="700"/>
              </a:spcBef>
              <a:buSzTx/>
              <a:buFontTx/>
              <a:buNone/>
              <a:defRPr sz="2128"/>
            </a:pPr>
            <a:r>
              <a:t>Techniques you tried. Did you end up using all of them? Did you discard any, for some reason? -</a:t>
            </a:r>
          </a:p>
          <a:p>
            <a:pPr marL="0" indent="0" defTabSz="694944">
              <a:spcBef>
                <a:spcPts val="700"/>
              </a:spcBef>
              <a:buSzTx/>
              <a:buFontTx/>
              <a:buNone/>
              <a:defRPr sz="2128"/>
            </a:pPr>
            <a:r>
              <a:t>Hot Encode for the “date” column and “state_holiday” column. We did not consider it needed to use other techniques for this case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Methods (models) – 1 or 2 slides</a:t>
            </a:r>
          </a:p>
        </p:txBody>
      </p:sp>
      <p:sp>
        <p:nvSpPr>
          <p:cNvPr id="105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203453" indent="-203453" defTabSz="813816">
              <a:spcBef>
                <a:spcPts val="800"/>
              </a:spcBef>
              <a:defRPr sz="2492"/>
            </a:pPr>
            <a:r>
              <a:t>Explain the models you tried and why. Your reasoning is very important! But don’t be afraid to say “not really sure why but this one works better”- </a:t>
            </a:r>
          </a:p>
          <a:p>
            <a:pPr marL="0" indent="0" defTabSz="813816">
              <a:spcBef>
                <a:spcPts val="800"/>
              </a:spcBef>
              <a:buSzTx/>
              <a:buFontTx/>
              <a:buNone/>
              <a:defRPr sz="2492"/>
            </a:pPr>
            <a:r>
              <a:t>Tried regression with LinearRegression(Dimi).We chose it because it is simple, fast and works well with numerical features. Was good to get a first impression of our predictions.</a:t>
            </a:r>
          </a:p>
          <a:p>
            <a:pPr marL="0" indent="0" defTabSz="813816">
              <a:spcBef>
                <a:spcPts val="800"/>
              </a:spcBef>
              <a:buSzTx/>
              <a:buFontTx/>
              <a:buNone/>
              <a:defRPr sz="2492"/>
            </a:pPr>
            <a:r>
              <a:t>Tried DecisionTree(Charleson). We chose it because it can model non-linear patterns and is easy too interpret. However, it tends to overfit on its own. Therefore we decided to try the Random Forrest next.</a:t>
            </a:r>
          </a:p>
          <a:p>
            <a:pPr marL="0" indent="0" defTabSz="813816">
              <a:spcBef>
                <a:spcPts val="800"/>
              </a:spcBef>
              <a:buSzTx/>
              <a:buFontTx/>
              <a:buNone/>
              <a:defRPr sz="2492"/>
            </a:pPr>
            <a:r>
              <a:t>Tried Random Forrest(Domien). We chose it because it can capture non-linear relationships and interactions between features. This is something that the LinearRegression can’t do. Therefore the performance has improved.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Selected model</a:t>
            </a:r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chose RandomForrest with</a:t>
            </a:r>
          </a:p>
          <a:p>
            <a:pPr marL="0" indent="0">
              <a:buSzTx/>
              <a:buFontTx/>
              <a:buNone/>
            </a:pPr>
            <a:r>
              <a:t> n_estimator = 100, depth = 12, random_state=42</a:t>
            </a:r>
          </a:p>
          <a:p>
            <a:pPr marL="0" indent="0">
              <a:buSzTx/>
              <a:buFontTx/>
              <a:buNone/>
            </a:pPr>
            <a:r>
              <a:t>Results: </a:t>
            </a:r>
          </a:p>
          <a:p>
            <a:pPr/>
            <a:r>
              <a:t>MAE : 866.0654 </a:t>
            </a:r>
          </a:p>
          <a:p>
            <a:pPr/>
            <a:r>
              <a:t>MSE : 1733754.1489 </a:t>
            </a:r>
          </a:p>
          <a:p>
            <a:pPr/>
            <a:r>
              <a:t>R2 : 0.8827</a:t>
            </a:r>
          </a:p>
        </p:txBody>
      </p:sp>
      <p:graphicFrame>
        <p:nvGraphicFramePr>
          <p:cNvPr id="109" name="Chart 3"/>
          <p:cNvGraphicFramePr/>
          <p:nvPr/>
        </p:nvGraphicFramePr>
        <p:xfrm>
          <a:off x="8646766" y="1496591"/>
          <a:ext cx="2541935" cy="380388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Takeaways</a:t>
            </a:r>
          </a:p>
        </p:txBody>
      </p:sp>
      <p:sp>
        <p:nvSpPr>
          <p:cNvPr id="11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need to take care of missing, wrong, or false datatypes in our dataset. Furthermore we need to find the matching model for our case, that is why we tried 3 different ones. </a:t>
            </a:r>
          </a:p>
          <a:p>
            <a:pPr/>
            <a:r>
              <a:t>The training dataset was different from the testing dataset, we had to do a different type of data pre-processing as some columns were not in the real-data file.</a:t>
            </a:r>
          </a:p>
          <a:p>
            <a:pPr/>
            <a:r>
              <a:t>We had to process the date differently in the real-dataset.</a:t>
            </a:r>
          </a:p>
          <a:p>
            <a:pPr/>
            <a:r>
              <a:t>Python is not import friendly. Lost lots of time because of this reason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